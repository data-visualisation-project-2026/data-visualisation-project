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8" r:id="rId3"/>
    <p:sldId id="260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6"/>
    <p:restoredTop sz="94691"/>
  </p:normalViewPr>
  <p:slideViewPr>
    <p:cSldViewPr snapToGrid="0">
      <p:cViewPr varScale="1">
        <p:scale>
          <a:sx n="103" d="100"/>
          <a:sy n="103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E427-5B9A-C597-600A-2CADA2DF7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E1C8B-06AD-F7F7-9D03-087BB75E5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4F53B-E521-4EF2-868C-A0FF4D3B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B0376-B831-314D-B816-FB5C817C527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AF4E6-6E26-EF50-11DB-FD8D17264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B2AB0-78BB-4EE3-02B3-FEFCE137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D4769-2D61-8541-A854-7592E590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05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D2AA8-A634-BF3E-0224-31DF7ED9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61E12-61F4-F8E0-3005-F3EA2D075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5D220-5BBE-2B19-E03E-FFF52F25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B0376-B831-314D-B816-FB5C817C527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9F0C-D95E-A9B4-21B9-C525C185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06C7A-9A1C-59B7-E1C6-BA70D2DE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D4769-2D61-8541-A854-7592E590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69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BA1B-B221-2006-F236-6DFED492D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35A5B-33A4-D267-AC86-6C884EAD7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E5947-AEA8-118F-85A5-C345E78B8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B0376-B831-314D-B816-FB5C817C527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B71BB-D6B0-382B-EADF-9406A8550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42945-A729-F17D-7E93-1051B317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D4769-2D61-8541-A854-7592E590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4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96D00-497A-7847-7AAB-62DE4FE17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B2B56-D616-B5E8-FE06-4C5A0FA23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629CB-8D36-679C-BDC5-2ED8FC6B8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DE7C1-6BA8-D249-B2C0-37530E526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B0376-B831-314D-B816-FB5C817C527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7F5F1-AFF1-FF82-260C-D813C6DC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FE62B-AB50-63BD-CC96-98053F74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D4769-2D61-8541-A854-7592E590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1932-10EC-E981-CBFE-236E4A182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FC64E-B5CF-52F4-05F2-14EAB23E4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3512E-9164-B6F2-A534-18371B305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8B61B0-8198-68E6-66FD-86AE0601A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7811E9-85FF-ECE7-848B-666788AEA4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217F01-3F18-8E65-6CEF-E890BA39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B0376-B831-314D-B816-FB5C817C527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E9FC0-5DD2-17CE-B0F6-974ACE850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EF28CD-D35B-72B7-3010-D77BFB6D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D4769-2D61-8541-A854-7592E590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67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874E-FE55-015C-0E1C-33133E9B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F4AA5-13A7-AEBA-7846-AF08CCD5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B0376-B831-314D-B816-FB5C817C527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F3063-961C-1DE8-5928-44D7B565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8F3C2-D8E8-4ED8-E901-11D37D4F8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D4769-2D61-8541-A854-7592E590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96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3EBD64-BBD7-9E57-45AC-92C2FFCC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B0376-B831-314D-B816-FB5C817C527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2FF244-A9DD-0E01-0412-E4D0CEED0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D7418-B41A-E4AE-0666-018D5B43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D4769-2D61-8541-A854-7592E590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22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7C061-C8AC-E1A3-2DE4-DEB9E93B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FF0EB-AD0E-63BF-BF81-1D192DD1C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B61B8-71FD-3923-A0A9-60CDB9F08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5AC9B-4662-D4BB-8867-057BCF0B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B0376-B831-314D-B816-FB5C817C527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834F9-DE49-0E97-A186-31EE005A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A8776-DB5D-D8F1-E8EC-9A757852E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D4769-2D61-8541-A854-7592E590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65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8B89B-784A-1E77-0C7C-A81004FA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F07E0D-A547-44DA-5CEC-ACE1F3209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92D96-4359-FF6B-A02B-414D7F252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1C320-ACF1-3D0B-1774-7C4E6918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B0376-B831-314D-B816-FB5C817C527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E9B9D-6991-8D6F-7F0D-2A5E08CA8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DD863-76E2-E10A-520F-2537F1A0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D4769-2D61-8541-A854-7592E590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73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1E0AD-6BAD-38A9-992C-CA5617C9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CE7DC-8E69-C4AB-08D1-9AAA01D50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F6A9E-6265-3F4A-4ED7-ABB873F7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B0376-B831-314D-B816-FB5C817C527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814C0-6533-5587-B319-635B62985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7F99E-D782-7CD4-3616-42C8F3A3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D4769-2D61-8541-A854-7592E590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7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B935B3-1B29-D6D2-2AD0-D99B3A681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6741F-0AB0-BDBB-AAE6-38546B976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CA16F-C70F-79B1-1728-CF6F75F7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B0376-B831-314D-B816-FB5C817C527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7C8CE-46D5-F49E-CADD-42874B88C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DA98F-C784-CD60-F0B0-4247EC4A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D4769-2D61-8541-A854-7592E590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4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B743DA-4D71-5DF8-472B-EB192F58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9E924-8FB4-1132-B185-9FCCD073C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00AB2-4D5F-FC2D-DAF9-8810D7F57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B0376-B831-314D-B816-FB5C817C527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42393-3CB0-645E-F728-0106B1BFC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A117F-90CA-119A-7373-FCC2412AC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DD4769-2D61-8541-A854-7592E590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2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980047-238C-C938-892C-99FF83D50249}"/>
              </a:ext>
            </a:extLst>
          </p:cNvPr>
          <p:cNvSpPr txBox="1"/>
          <p:nvPr/>
        </p:nvSpPr>
        <p:spPr>
          <a:xfrm>
            <a:off x="183706" y="152574"/>
            <a:ext cx="169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Overall Layout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012C3E-D936-C191-4231-BECB46CF3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188" y="1543579"/>
            <a:ext cx="9604201" cy="45392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75BC13-CA36-9A38-83B8-CD6DB02A5D0E}"/>
              </a:ext>
            </a:extLst>
          </p:cNvPr>
          <p:cNvSpPr txBox="1"/>
          <p:nvPr/>
        </p:nvSpPr>
        <p:spPr>
          <a:xfrm>
            <a:off x="302642" y="775123"/>
            <a:ext cx="8186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Single Page: slow loading speed &amp; hard to navigate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en-US" dirty="0"/>
              <a:t>Navigation bar on the left: Leave narrow spaces for the contents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CEFD9B-4FE7-C94F-E9D0-CCAA8AF89E13}"/>
              </a:ext>
            </a:extLst>
          </p:cNvPr>
          <p:cNvCxnSpPr>
            <a:cxnSpLocks/>
          </p:cNvCxnSpPr>
          <p:nvPr/>
        </p:nvCxnSpPr>
        <p:spPr>
          <a:xfrm>
            <a:off x="509286" y="6419813"/>
            <a:ext cx="113200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163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21D18C-4732-F8B4-860C-59CBA7EC6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6" y="1905451"/>
            <a:ext cx="5239515" cy="3929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6F5D47-59EC-0AAE-C982-6BA8262B49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60" r="6032"/>
          <a:stretch>
            <a:fillRect/>
          </a:stretch>
        </p:blipFill>
        <p:spPr>
          <a:xfrm>
            <a:off x="5121357" y="1584177"/>
            <a:ext cx="6886937" cy="3929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28952C-A106-389A-D693-A578D7FB0C93}"/>
              </a:ext>
            </a:extLst>
          </p:cNvPr>
          <p:cNvSpPr txBox="1"/>
          <p:nvPr/>
        </p:nvSpPr>
        <p:spPr>
          <a:xfrm>
            <a:off x="183706" y="152574"/>
            <a:ext cx="3044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Network for Media Clusters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5F8F0BA-8895-8F9A-C79D-4E1C696B4634}"/>
              </a:ext>
            </a:extLst>
          </p:cNvPr>
          <p:cNvCxnSpPr>
            <a:cxnSpLocks/>
          </p:cNvCxnSpPr>
          <p:nvPr/>
        </p:nvCxnSpPr>
        <p:spPr>
          <a:xfrm>
            <a:off x="509286" y="6419813"/>
            <a:ext cx="113200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57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83237-212F-DA8C-EF27-EF910CAF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B0B177-F60D-8C93-65A9-79F0425020A7}"/>
              </a:ext>
            </a:extLst>
          </p:cNvPr>
          <p:cNvSpPr txBox="1"/>
          <p:nvPr/>
        </p:nvSpPr>
        <p:spPr>
          <a:xfrm>
            <a:off x="183706" y="152574"/>
            <a:ext cx="3691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Unique Phrases of media clusters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E9658F-3A7F-2D46-F790-F08C7AF59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42" y="2623776"/>
            <a:ext cx="6845300" cy="3644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1E12FF-808B-7A95-8217-9FB873EDBB75}"/>
              </a:ext>
            </a:extLst>
          </p:cNvPr>
          <p:cNvSpPr txBox="1"/>
          <p:nvPr/>
        </p:nvSpPr>
        <p:spPr>
          <a:xfrm>
            <a:off x="302642" y="775123"/>
            <a:ext cx="57933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Graph Choices: </a:t>
            </a:r>
          </a:p>
          <a:p>
            <a:pPr marL="285750" indent="-285750">
              <a:buFontTx/>
              <a:buChar char="-"/>
            </a:pPr>
            <a:r>
              <a:rPr lang="en-US" dirty="0"/>
              <a:t>Word cloud: visually attractive, but hard to compare.</a:t>
            </a:r>
          </a:p>
          <a:p>
            <a:pPr marL="285750" indent="-285750">
              <a:buFontTx/>
              <a:buChar char="-"/>
            </a:pPr>
            <a:r>
              <a:rPr lang="en-US" dirty="0"/>
              <a:t>Grouped bar chart: too crowded.</a:t>
            </a:r>
          </a:p>
          <a:p>
            <a:pPr marL="285750" indent="-285750">
              <a:buFontTx/>
              <a:buChar char="-"/>
            </a:pPr>
            <a:r>
              <a:rPr lang="en-US" dirty="0"/>
              <a:t>Faceted bar charts: better </a:t>
            </a:r>
            <a:r>
              <a:rPr lang="en-US" dirty="0" err="1"/>
              <a:t>readibility</a:t>
            </a:r>
            <a:r>
              <a:rPr lang="en-US" dirty="0"/>
              <a:t> and easier to compare.</a:t>
            </a:r>
            <a:endParaRPr lang="en-US" altLang="zh-CN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27084-9731-FB62-F2B1-EF78BDB521BF}"/>
              </a:ext>
            </a:extLst>
          </p:cNvPr>
          <p:cNvSpPr txBox="1"/>
          <p:nvPr/>
        </p:nvSpPr>
        <p:spPr>
          <a:xfrm>
            <a:off x="6808573" y="775123"/>
            <a:ext cx="4981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Phrase Choice: </a:t>
            </a:r>
          </a:p>
          <a:p>
            <a:pPr marL="285750" indent="-285750">
              <a:buFontTx/>
              <a:buChar char="-"/>
            </a:pPr>
            <a:r>
              <a:rPr lang="en-US" dirty="0"/>
              <a:t>At first, we tried to create plots with unique words, but there are too many meaningless words, so we switched to bigrams to make results more interpretable.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7D938B-A104-3C4E-5318-4979F72432C8}"/>
              </a:ext>
            </a:extLst>
          </p:cNvPr>
          <p:cNvCxnSpPr>
            <a:cxnSpLocks/>
          </p:cNvCxnSpPr>
          <p:nvPr/>
        </p:nvCxnSpPr>
        <p:spPr>
          <a:xfrm>
            <a:off x="509286" y="6419813"/>
            <a:ext cx="113200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C4D9C51-527D-2DF7-372C-B80AEF413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942" y="2818355"/>
            <a:ext cx="4534917" cy="325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3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9D37D1-E544-E710-8D0A-A604034A9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43" y="3429000"/>
            <a:ext cx="3952907" cy="1689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6F4F27-E81E-0182-9ECB-72A1FD3DAC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59" t="35864" r="27524"/>
          <a:stretch>
            <a:fillRect/>
          </a:stretch>
        </p:blipFill>
        <p:spPr>
          <a:xfrm>
            <a:off x="4255550" y="2645600"/>
            <a:ext cx="3770851" cy="32169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B27330-166D-4CDC-D59D-74688D3D4A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13" t="4403" r="7075"/>
          <a:stretch>
            <a:fillRect/>
          </a:stretch>
        </p:blipFill>
        <p:spPr>
          <a:xfrm>
            <a:off x="8080425" y="2645600"/>
            <a:ext cx="3898883" cy="36353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EF982E-BF93-1EA4-A8B5-12AC15F621FF}"/>
              </a:ext>
            </a:extLst>
          </p:cNvPr>
          <p:cNvSpPr txBox="1"/>
          <p:nvPr/>
        </p:nvSpPr>
        <p:spPr>
          <a:xfrm>
            <a:off x="183706" y="152574"/>
            <a:ext cx="4540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Heatmap: framing scores across 5 outlets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EFCD08-C301-8770-1D7E-6CDC4D4E695B}"/>
              </a:ext>
            </a:extLst>
          </p:cNvPr>
          <p:cNvSpPr txBox="1"/>
          <p:nvPr/>
        </p:nvSpPr>
        <p:spPr>
          <a:xfrm>
            <a:off x="302642" y="775123"/>
            <a:ext cx="61444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Color Scheme Choice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dirty="0"/>
              <a:t>Blues scheme: too</a:t>
            </a:r>
            <a:r>
              <a:rPr lang="zh-CN" altLang="en-US" dirty="0"/>
              <a:t> </a:t>
            </a:r>
            <a:r>
              <a:rPr lang="en-US" altLang="zh-CN" dirty="0"/>
              <a:t>visually strong compared to other visualizations.</a:t>
            </a:r>
          </a:p>
          <a:p>
            <a:pPr marL="285750" indent="-285750">
              <a:buFontTx/>
              <a:buChar char="-"/>
            </a:pPr>
            <a:r>
              <a:rPr lang="en-US" dirty="0"/>
              <a:t>Greys scheme: Less distracting, but felt strange.</a:t>
            </a:r>
          </a:p>
          <a:p>
            <a:pPr marL="285750" indent="-285750">
              <a:buFontTx/>
              <a:buChar char="-"/>
            </a:pPr>
            <a:r>
              <a:rPr lang="en-US" dirty="0"/>
              <a:t>Muted Blues: more consistent with the overall visual style.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D5B5A7-7B2F-D673-9B98-88089A1F482A}"/>
              </a:ext>
            </a:extLst>
          </p:cNvPr>
          <p:cNvCxnSpPr>
            <a:cxnSpLocks/>
          </p:cNvCxnSpPr>
          <p:nvPr/>
        </p:nvCxnSpPr>
        <p:spPr>
          <a:xfrm>
            <a:off x="509286" y="6419813"/>
            <a:ext cx="113200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585202E-3343-876B-8871-DF6CF0002C4C}"/>
              </a:ext>
            </a:extLst>
          </p:cNvPr>
          <p:cNvSpPr txBox="1"/>
          <p:nvPr/>
        </p:nvSpPr>
        <p:spPr>
          <a:xfrm>
            <a:off x="6751210" y="752378"/>
            <a:ext cx="49220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Layout</a:t>
            </a:r>
            <a:r>
              <a:rPr lang="en-US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dirty="0"/>
              <a:t>rectangular cells → square cells: feel more balanced and easier to scan.</a:t>
            </a:r>
          </a:p>
          <a:p>
            <a:pPr marL="285750" indent="-285750">
              <a:buFontTx/>
              <a:buChar char="-"/>
            </a:pPr>
            <a:r>
              <a:rPr lang="en-US" dirty="0"/>
              <a:t>Extended the color legend to make the score range clearer.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064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1794</TotalTime>
  <Words>169</Words>
  <Application>Microsoft Macintosh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Yixiao Liu</dc:creator>
  <cp:lastModifiedBy>Yixiao Liu</cp:lastModifiedBy>
  <cp:revision>13</cp:revision>
  <dcterms:created xsi:type="dcterms:W3CDTF">2026-05-01T14:35:13Z</dcterms:created>
  <dcterms:modified xsi:type="dcterms:W3CDTF">2026-05-02T20:51:53Z</dcterms:modified>
</cp:coreProperties>
</file>